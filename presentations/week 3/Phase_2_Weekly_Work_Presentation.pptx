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109728"/>
          </a:xfrm>
          <a:prstGeom prst="rect">
            <a:avLst/>
          </a:prstGeom>
          <a:solidFill>
            <a:srgbClr val="198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3108960" cy="10972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0" y="0"/>
            <a:ext cx="3108960" cy="109728"/>
          </a:xfrm>
          <a:prstGeom prst="rect">
            <a:avLst/>
          </a:prstGeom>
          <a:solidFill>
            <a:srgbClr val="6F4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3108960" cy="109728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WEEKLY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E1EBF7"/>
                </a:solidFill>
                <a:latin typeface="Aptos"/>
              </a:defRPr>
            </a:pPr>
            <a:r>
              <a:t>FPGA • Verilog • PLL • Cortex-M3 • ESP32-S3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4320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D2DEEE"/>
                </a:solidFill>
                <a:latin typeface="Aptos"/>
              </a:defRPr>
            </a:pPr>
            <a:r>
              <a:t>From KiCad schematic verification to FPGA programming,</a:t>
            </a:r>
            <a:br/>
            <a:r>
              <a:t>processor communication and a Wi-Fi web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51960"/>
            <a:ext cx="2148840" cy="914400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2057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DAY 1</a:t>
            </a:r>
            <a:br/>
            <a:r>
              <a:t>KiCad + AXP2101 + ESP32-S3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4251960"/>
            <a:ext cx="2148840" cy="914400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4297680"/>
            <a:ext cx="2057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DAY 2</a:t>
            </a:r>
            <a:br/>
            <a:r>
              <a:t>FPGA Basics + Verilog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4251960"/>
            <a:ext cx="2148840" cy="914400"/>
          </a:xfrm>
          <a:prstGeom prst="roundRect">
            <a:avLst/>
          </a:prstGeom>
          <a:solidFill>
            <a:srgbClr val="6F49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48655" y="4297680"/>
            <a:ext cx="2057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DAY 3</a:t>
            </a:r>
            <a:br/>
            <a:r>
              <a:t>PLL + Frequency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3" y="4251960"/>
            <a:ext cx="2148840" cy="914400"/>
          </a:xfrm>
          <a:prstGeom prst="roundRect">
            <a:avLst/>
          </a:prstGeom>
          <a:solidFill>
            <a:srgbClr val="308B5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52944" y="4297680"/>
            <a:ext cx="2057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DAY 4</a:t>
            </a:r>
            <a:br/>
            <a:r>
              <a:t>Cortex-M3 + FPGA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1" y="4251960"/>
            <a:ext cx="2148840" cy="914400"/>
          </a:xfrm>
          <a:prstGeom prst="roundRect">
            <a:avLst/>
          </a:prstGeom>
          <a:solidFill>
            <a:srgbClr val="E57E2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57232" y="4297680"/>
            <a:ext cx="2057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DAY 5</a:t>
            </a:r>
            <a:br/>
            <a:r>
              <a:t>ESP32-S3 Wi-Fi + Web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80644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Weekly objective: build and demonstrate the complete programming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WEEK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E6F2"/>
                </a:solidFill>
                <a:latin typeface="Aptos"/>
              </a:defRPr>
            </a:pPr>
            <a:r>
              <a:t>MONDAY → FRIDAY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3058"/>
                </a:solidFill>
                <a:latin typeface="Aptos"/>
              </a:defRPr>
            </a:pPr>
            <a:r>
              <a:t>Five-day execution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36232"/>
            <a:ext cx="4480560" cy="1131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98277"/>
                </a:solidFill>
                <a:latin typeface="Aptos"/>
              </a:defRPr>
            </a:pPr>
            <a:r>
              <a:rPr dirty="0"/>
              <a:t>MONDAY  |  Day 1</a:t>
            </a:r>
            <a:endParaRPr lang="en-IN" dirty="0"/>
          </a:p>
          <a:p>
            <a:pPr>
              <a:defRPr sz="1350" b="1">
                <a:solidFill>
                  <a:srgbClr val="198277"/>
                </a:solidFill>
                <a:latin typeface="Aptos"/>
              </a:defRPr>
            </a:pPr>
            <a:r>
              <a:rPr lang="en-US" dirty="0" err="1"/>
              <a:t>KiCad</a:t>
            </a:r>
            <a:r>
              <a:rPr lang="en-US" dirty="0"/>
              <a:t> schematic review</a:t>
            </a:r>
            <a:br>
              <a:rPr lang="en-US" dirty="0"/>
            </a:br>
            <a:r>
              <a:rPr lang="en-US" dirty="0"/>
              <a:t>AXP2101 + ESP32-S3</a:t>
            </a:r>
            <a:br>
              <a:rPr lang="en-US" dirty="0"/>
            </a:br>
            <a:r>
              <a:rPr lang="en-US" dirty="0"/>
              <a:t>Connection verification</a:t>
            </a:r>
          </a:p>
          <a:p>
            <a:pPr algn="l">
              <a:defRPr sz="1350" b="1">
                <a:solidFill>
                  <a:srgbClr val="198277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9224" y="2218856"/>
            <a:ext cx="4480560" cy="1131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F5BA0"/>
                </a:solidFill>
                <a:latin typeface="Aptos"/>
              </a:defRPr>
            </a:pPr>
            <a:r>
              <a:rPr dirty="0"/>
              <a:t>TUESDAY  |  Day 2</a:t>
            </a:r>
            <a:endParaRPr lang="en-IN" dirty="0"/>
          </a:p>
          <a:p>
            <a:pPr>
              <a:defRPr sz="1350" b="1">
                <a:solidFill>
                  <a:srgbClr val="1F5BA0"/>
                </a:solidFill>
                <a:latin typeface="Aptos"/>
              </a:defRPr>
            </a:pPr>
            <a:r>
              <a:rPr lang="en-IN" dirty="0"/>
              <a:t>FPGA basics</a:t>
            </a:r>
            <a:br>
              <a:rPr lang="en-IN" dirty="0"/>
            </a:br>
            <a:r>
              <a:rPr lang="en-IN" dirty="0"/>
              <a:t>Verilog implementation</a:t>
            </a:r>
            <a:br>
              <a:rPr lang="en-IN" dirty="0"/>
            </a:br>
            <a:r>
              <a:rPr lang="en-IN" dirty="0"/>
              <a:t>Gowin/T-FPGA flow</a:t>
            </a:r>
          </a:p>
          <a:p>
            <a:pPr algn="l">
              <a:defRPr sz="1350" b="1">
                <a:solidFill>
                  <a:srgbClr val="1F5BA0"/>
                </a:solidFill>
                <a:latin typeface="Aptos"/>
              </a:defRPr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11480" y="2504450"/>
            <a:ext cx="448056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32A34"/>
                </a:solidFill>
                <a:latin typeface="Aptos"/>
              </a:defRPr>
            </a:pPr>
            <a:endParaRPr lang="en-IN" dirty="0"/>
          </a:p>
          <a:p>
            <a:pPr algn="l">
              <a:defRPr sz="1050" b="0">
                <a:solidFill>
                  <a:srgbClr val="232A34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30936" y="3130068"/>
            <a:ext cx="4480560" cy="1131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6F499C"/>
                </a:solidFill>
                <a:latin typeface="Aptos"/>
              </a:defRPr>
            </a:pPr>
            <a:r>
              <a:rPr dirty="0"/>
              <a:t>WEDNESDAY  |  Day 3</a:t>
            </a:r>
            <a:endParaRPr lang="en-IN" dirty="0"/>
          </a:p>
          <a:p>
            <a:pPr>
              <a:defRPr sz="1350" b="1">
                <a:solidFill>
                  <a:srgbClr val="6F499C"/>
                </a:solidFill>
                <a:latin typeface="Aptos"/>
              </a:defRPr>
            </a:pPr>
            <a:r>
              <a:rPr lang="en-US" dirty="0"/>
              <a:t>PLL basics</a:t>
            </a:r>
            <a:br>
              <a:rPr lang="en-US" dirty="0"/>
            </a:br>
            <a:r>
              <a:rPr lang="en-US" dirty="0"/>
              <a:t>Clock generation</a:t>
            </a:r>
            <a:br>
              <a:rPr lang="en-US" dirty="0"/>
            </a:br>
            <a:r>
              <a:rPr lang="en-US" dirty="0"/>
              <a:t>Frequency detection</a:t>
            </a:r>
          </a:p>
          <a:p>
            <a:pPr algn="l">
              <a:defRPr sz="1350" b="1">
                <a:solidFill>
                  <a:srgbClr val="6F499C"/>
                </a:solidFill>
                <a:latin typeface="Aptos"/>
              </a:defRPr>
            </a:pP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30936" y="4026304"/>
            <a:ext cx="4480560" cy="23775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308B5B"/>
                </a:solidFill>
                <a:latin typeface="Aptos"/>
              </a:defRPr>
            </a:pPr>
            <a:r>
              <a:rPr dirty="0"/>
              <a:t>THURSDAY  |  Day 4</a:t>
            </a:r>
            <a:endParaRPr lang="en-IN" dirty="0"/>
          </a:p>
          <a:p>
            <a:pPr>
              <a:defRPr sz="1350" b="1">
                <a:solidFill>
                  <a:srgbClr val="308B5B"/>
                </a:solidFill>
                <a:latin typeface="Aptos"/>
              </a:defRPr>
            </a:pPr>
            <a:r>
              <a:rPr lang="en-US" dirty="0"/>
              <a:t>Cortex-M3</a:t>
            </a:r>
            <a:br>
              <a:rPr lang="en-US" dirty="0"/>
            </a:br>
            <a:r>
              <a:rPr lang="en-US" dirty="0"/>
              <a:t>Memory-mapped registers</a:t>
            </a:r>
            <a:br>
              <a:rPr lang="en-US" dirty="0"/>
            </a:br>
            <a:r>
              <a:rPr lang="en-US" dirty="0"/>
              <a:t>FPGA communication</a:t>
            </a:r>
          </a:p>
          <a:p>
            <a:pPr>
              <a:defRPr sz="1350" b="1">
                <a:solidFill>
                  <a:srgbClr val="308B5B"/>
                </a:solidFill>
                <a:latin typeface="Aptos"/>
              </a:defRPr>
            </a:pPr>
            <a:endParaRPr lang="en-US" dirty="0"/>
          </a:p>
          <a:p>
            <a:pPr>
              <a:defRPr sz="1350" b="1">
                <a:solidFill>
                  <a:srgbClr val="308B5B"/>
                </a:solidFill>
                <a:latin typeface="Aptos"/>
              </a:defRPr>
            </a:pPr>
            <a:endParaRPr lang="en-US" dirty="0"/>
          </a:p>
          <a:p>
            <a:pPr>
              <a:defRPr sz="1350" b="1">
                <a:solidFill>
                  <a:srgbClr val="308B5B"/>
                </a:solidFill>
                <a:latin typeface="Aptos"/>
              </a:defRPr>
            </a:pPr>
            <a:endParaRPr lang="en-US" dirty="0"/>
          </a:p>
          <a:p>
            <a:pPr>
              <a:defRPr sz="1350" b="1">
                <a:solidFill>
                  <a:srgbClr val="308B5B"/>
                </a:solidFill>
                <a:latin typeface="Aptos"/>
              </a:defRPr>
            </a:pPr>
            <a:endParaRPr lang="en-US" dirty="0"/>
          </a:p>
          <a:p>
            <a:pPr>
              <a:defRPr sz="1350" b="1">
                <a:solidFill>
                  <a:srgbClr val="308B5B"/>
                </a:solidFill>
                <a:latin typeface="Aptos"/>
              </a:defRPr>
            </a:pPr>
            <a:endParaRPr lang="en-US" dirty="0"/>
          </a:p>
          <a:p>
            <a:pPr algn="l">
              <a:defRPr sz="1350" b="1">
                <a:solidFill>
                  <a:srgbClr val="308B5B"/>
                </a:solidFill>
                <a:latin typeface="Aptos"/>
              </a:defRPr>
            </a:pPr>
            <a:endParaRPr lang="en-IN" dirty="0"/>
          </a:p>
          <a:p>
            <a:pPr algn="l">
              <a:defRPr sz="1350" b="1">
                <a:solidFill>
                  <a:srgbClr val="308B5B"/>
                </a:solidFill>
                <a:latin typeface="Aptos"/>
              </a:defRPr>
            </a:pP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30936" y="4920893"/>
            <a:ext cx="4480560" cy="1131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E57E22"/>
                </a:solidFill>
                <a:latin typeface="Aptos"/>
              </a:defRPr>
            </a:pPr>
            <a:r>
              <a:rPr dirty="0"/>
              <a:t>FRIDAY  |  Day 5</a:t>
            </a:r>
            <a:endParaRPr lang="en-IN" dirty="0"/>
          </a:p>
          <a:p>
            <a:pPr>
              <a:defRPr sz="1350" b="1">
                <a:solidFill>
                  <a:srgbClr val="E57E22"/>
                </a:solidFill>
                <a:latin typeface="Aptos"/>
              </a:defRPr>
            </a:pPr>
            <a:r>
              <a:rPr lang="en-US" dirty="0"/>
              <a:t>ESP32-S3 Wi-Fi</a:t>
            </a:r>
            <a:br>
              <a:rPr lang="en-US" dirty="0"/>
            </a:br>
            <a:r>
              <a:rPr lang="en-US" dirty="0"/>
              <a:t>UART/I²C/SPI</a:t>
            </a:r>
            <a:br>
              <a:rPr lang="en-US" dirty="0"/>
            </a:br>
            <a:r>
              <a:rPr lang="en-US" dirty="0"/>
              <a:t>Web dashboard</a:t>
            </a:r>
          </a:p>
          <a:p>
            <a:pPr algn="l">
              <a:defRPr sz="1350" b="1">
                <a:solidFill>
                  <a:srgbClr val="E57E22"/>
                </a:solidFill>
                <a:latin typeface="Aptos"/>
              </a:defRPr>
            </a:pPr>
            <a:endParaRPr dirty="0"/>
          </a:p>
        </p:txBody>
      </p:sp>
      <p:pic>
        <p:nvPicPr>
          <p:cNvPr id="28" name="Picture 27" descr="09a7498b-cb6f-4322-b711-850bcf5010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914399"/>
            <a:ext cx="7650480" cy="53758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DAY 1 – 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E6F2"/>
                </a:solidFill>
                <a:latin typeface="Aptos"/>
              </a:defRPr>
            </a:pPr>
            <a:r>
              <a:t>KiCad Schematic Review &amp;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98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1965960" cy="347472"/>
          </a:xfrm>
          <a:prstGeom prst="roundRect">
            <a:avLst/>
          </a:prstGeom>
          <a:solidFill>
            <a:srgbClr val="198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960120"/>
            <a:ext cx="18196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I WORKED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t>• Reviewed the AXP2101 power-management schematic in KiCad.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t>• Reviewed ESP32-S3 schematic symbols, pins and external connections.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t>• Verified power, ground and interface connections before moving to system integration.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t>• Checked schematic connectivity and ran ERC to identify electrical issues.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t>• Reached 0 ERC errors; remaining warnings were treated as non-blocking after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932688"/>
            <a:ext cx="2148840" cy="347472"/>
          </a:xfrm>
          <a:prstGeom prst="roundRect">
            <a:avLst/>
          </a:prstGeom>
          <a:solidFill>
            <a:srgbClr val="198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88152" y="960120"/>
            <a:ext cx="20025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SCHEMATIC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600200"/>
            <a:ext cx="1508760" cy="822960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1645920"/>
            <a:ext cx="14173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AXP2101</a:t>
            </a:r>
            <a:br/>
            <a:r>
              <a:t>Power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600200"/>
            <a:ext cx="1508760" cy="822960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1645920"/>
            <a:ext cx="14173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Power Rails</a:t>
            </a:r>
            <a:br/>
            <a:r>
              <a:t>&amp; GND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1600200"/>
            <a:ext cx="1508760" cy="822960"/>
          </a:xfrm>
          <a:prstGeom prst="roundRect">
            <a:avLst/>
          </a:prstGeom>
          <a:solidFill>
            <a:srgbClr val="6F49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0" y="1645920"/>
            <a:ext cx="14173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ESP32-S3</a:t>
            </a:r>
            <a:br/>
            <a:r>
              <a:t>Controller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0" y="2011680"/>
            <a:ext cx="41148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2011680"/>
            <a:ext cx="41148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03720" y="3063240"/>
            <a:ext cx="1828800" cy="777240"/>
          </a:xfrm>
          <a:prstGeom prst="roundRect">
            <a:avLst/>
          </a:prstGeom>
          <a:solidFill>
            <a:srgbClr val="E57E2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310896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Interface Nets</a:t>
            </a:r>
            <a:br/>
            <a:r>
              <a:t>UART / I²C / SPI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229600" y="2423160"/>
            <a:ext cx="2240280" cy="64008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263640" y="2423160"/>
            <a:ext cx="640080" cy="1033272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37947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794760"/>
            <a:ext cx="73152" cy="1508760"/>
          </a:xfrm>
          <a:prstGeom prst="rect">
            <a:avLst/>
          </a:prstGeom>
          <a:solidFill>
            <a:srgbClr val="198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3913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98277"/>
                </a:solidFill>
                <a:latin typeface="Aptos"/>
              </a:defRPr>
            </a:pPr>
            <a:r>
              <a:t>Verification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325112"/>
            <a:ext cx="3063240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• Pin-to-pin connectivity</a:t>
            </a:r>
            <a:br/>
            <a:r>
              <a:t>• Power and ground nets</a:t>
            </a:r>
            <a:br/>
            <a:r>
              <a:t>• Interface signal naming</a:t>
            </a:r>
            <a:br/>
            <a:r>
              <a:t>• ERC error checking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37947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069080" y="3794760"/>
            <a:ext cx="73152" cy="150876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0248" y="3913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BA0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4325112"/>
            <a:ext cx="3063240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KiCad schematic was reviewed and electrical connectivity was verified as the starting point for the programming phase.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37947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3794760"/>
            <a:ext cx="73152" cy="1508760"/>
          </a:xfrm>
          <a:prstGeom prst="rect">
            <a:avLst/>
          </a:prstGeom>
          <a:solidFill>
            <a:srgbClr val="6F4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36408" y="3913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F499C"/>
                </a:solidFill>
                <a:latin typeface="Aptos"/>
              </a:defRPr>
            </a:pPr>
            <a:r>
              <a:t>Presentation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325112"/>
            <a:ext cx="3063240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Insert screenshots of:</a:t>
            </a:r>
            <a:br/>
            <a:r>
              <a:t>1) AXP2101 schematic</a:t>
            </a:r>
            <a:br/>
            <a:r>
              <a:t>2) ESP32-S3 schematic</a:t>
            </a:r>
            <a:br/>
            <a:r>
              <a:t>3) ERC result window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43058"/>
                </a:solidFill>
                <a:latin typeface="Aptos"/>
              </a:defRPr>
            </a:pPr>
            <a:r>
              <a:t>Outcome: a verified hardware-level starting point for the FPGA + ESP32-S3 programming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DAY 2 – TUESDAY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E6F2"/>
                </a:solidFill>
                <a:latin typeface="Aptos"/>
              </a:defRPr>
            </a:pPr>
            <a:r>
              <a:t>FPGA Basics &amp; Verilog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1828800" cy="347472"/>
          </a:xfrm>
          <a:prstGeom prst="round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960120"/>
            <a:ext cx="16824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LEARNING &amp;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4572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rPr dirty="0"/>
              <a:t>• Understood the basic FPGA programming flow using Gowin tools.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rPr dirty="0"/>
              <a:t>• Worked with the T-FPGA based on the GW1NSR-4C device.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rPr dirty="0"/>
              <a:t>• Reviewed Verilog HDL modules, ports, wires and logic structure.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rPr dirty="0"/>
              <a:t>• Implemented basic combinational and sequential logic.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rPr dirty="0"/>
              <a:t>• Prepared synthesis, constraints and bitstream generation flow.</a:t>
            </a:r>
          </a:p>
          <a:p>
            <a:pPr>
              <a:spcAft>
                <a:spcPts val="400"/>
              </a:spcAft>
              <a:defRPr sz="1350">
                <a:solidFill>
                  <a:srgbClr val="232A34"/>
                </a:solidFill>
                <a:latin typeface="Aptos"/>
              </a:defRPr>
            </a:pPr>
            <a:r>
              <a:rPr dirty="0"/>
              <a:t>• Programmed the T-FPGA and verified a basic LED/output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932688"/>
            <a:ext cx="2057400" cy="347472"/>
          </a:xfrm>
          <a:prstGeom prst="round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59552" y="960120"/>
            <a:ext cx="19110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FPGA PROGRAMMING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1846" y="1531268"/>
            <a:ext cx="1417320" cy="841248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9262" y="1586484"/>
            <a:ext cx="1325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dirty="0"/>
              <a:t>Verilog</a:t>
            </a:r>
            <a:br>
              <a:rPr dirty="0"/>
            </a:br>
            <a:r>
              <a:rPr dirty="0"/>
              <a:t>Code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5122" y="1982590"/>
            <a:ext cx="320039" cy="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61289" y="1508760"/>
            <a:ext cx="1417320" cy="841248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59" y="1666319"/>
            <a:ext cx="1325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Gowin</a:t>
            </a:r>
            <a:br/>
            <a:r>
              <a:t>Project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31894" y="2020824"/>
            <a:ext cx="320040" cy="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52310" y="1519914"/>
            <a:ext cx="1417320" cy="841248"/>
          </a:xfrm>
          <a:prstGeom prst="roundRect">
            <a:avLst/>
          </a:prstGeom>
          <a:solidFill>
            <a:srgbClr val="6F49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9912" y="1580607"/>
            <a:ext cx="1325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dirty="0"/>
              <a:t>Synthesis</a:t>
            </a:r>
            <a:br>
              <a:rPr dirty="0"/>
            </a:br>
            <a:r>
              <a:rPr dirty="0"/>
              <a:t>&amp; P&amp;R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83980" y="1951892"/>
            <a:ext cx="320040" cy="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87164" y="1496201"/>
            <a:ext cx="1417320" cy="841248"/>
          </a:xfrm>
          <a:prstGeom prst="roundRect">
            <a:avLst/>
          </a:prstGeom>
          <a:solidFill>
            <a:srgbClr val="E57E2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4926" y="1554480"/>
            <a:ext cx="1325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dirty="0"/>
              <a:t>Bitstream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403192" y="1940538"/>
            <a:ext cx="320040" cy="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48495" y="1531268"/>
            <a:ext cx="1417320" cy="841248"/>
          </a:xfrm>
          <a:prstGeom prst="roundRect">
            <a:avLst/>
          </a:prstGeom>
          <a:solidFill>
            <a:srgbClr val="308B5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67373" y="1554480"/>
            <a:ext cx="1325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T-FPGA</a:t>
            </a:r>
            <a:br/>
            <a:r>
              <a:t>Program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49041" y="1547270"/>
            <a:ext cx="1417320" cy="841248"/>
          </a:xfrm>
          <a:prstGeom prst="roundRect">
            <a:avLst/>
          </a:prstGeom>
          <a:solidFill>
            <a:srgbClr val="14305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29628" y="1586484"/>
            <a:ext cx="1325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dirty="0"/>
              <a:t>LED / Output</a:t>
            </a:r>
            <a:br>
              <a:rPr dirty="0"/>
            </a:br>
            <a:r>
              <a:rPr dirty="0"/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288036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532120" y="2880360"/>
            <a:ext cx="73152" cy="141732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33288" y="2999232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BA0"/>
                </a:solidFill>
                <a:latin typeface="Aptos"/>
              </a:defRPr>
            </a:pPr>
            <a:r>
              <a:t>Verilog concepts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3410712"/>
            <a:ext cx="2423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Modules • Ports • Wires</a:t>
            </a:r>
            <a:br/>
            <a:r>
              <a:t>Combinational logic</a:t>
            </a:r>
            <a:br/>
            <a:r>
              <a:t>Sequential logic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288036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458200" y="2880360"/>
            <a:ext cx="73152" cy="1417320"/>
          </a:xfrm>
          <a:prstGeom prst="rect">
            <a:avLst/>
          </a:prstGeom>
          <a:solidFill>
            <a:srgbClr val="198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59368" y="2999232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98277"/>
                </a:solidFill>
                <a:latin typeface="Aptos"/>
              </a:defRPr>
            </a:pPr>
            <a:r>
              <a:t>Tool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3410712"/>
            <a:ext cx="24231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Project creation</a:t>
            </a:r>
            <a:br/>
            <a:r>
              <a:t>Constraints</a:t>
            </a:r>
            <a:br/>
            <a:r>
              <a:t>Synthesis → bitstream</a:t>
            </a:r>
            <a:br/>
            <a:r>
              <a:t>Device programming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32120" y="4526280"/>
            <a:ext cx="5669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532120" y="4526280"/>
            <a:ext cx="73152" cy="123444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33288" y="4645152"/>
            <a:ext cx="5349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08B5B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33288" y="5056632"/>
            <a:ext cx="534924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A34"/>
                </a:solidFill>
                <a:latin typeface="Aptos"/>
              </a:defRPr>
            </a:pPr>
            <a:r>
              <a:t>Successfully moved from HDL source to a programmable FPGA design and basic output verification.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9436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9727E"/>
                </a:solidFill>
                <a:latin typeface="Aptos"/>
              </a:defRPr>
            </a:pPr>
            <a:r>
              <a:t>Evidence to show: Gowin project, Verilog source, synthesis/programming window, and LED/output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DAY 3 – WEDNESDAY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E6F2"/>
                </a:solidFill>
                <a:latin typeface="Aptos"/>
              </a:defRPr>
            </a:pPr>
            <a:r>
              <a:t>PLL &amp; Frequency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6F4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1920240" cy="347472"/>
          </a:xfrm>
          <a:prstGeom prst="roundRect">
            <a:avLst/>
          </a:prstGeom>
          <a:solidFill>
            <a:srgbClr val="6F4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960120"/>
            <a:ext cx="17739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CONCEPTS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9776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PLL basics in FPGA clock management.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Clock multiplication/division and generated clock concepts.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Frequency counter design for measurement.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Detection of an input or generated clock frequency.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Displaying or verifying the detected result using FPGA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932688"/>
            <a:ext cx="2240280" cy="347472"/>
          </a:xfrm>
          <a:prstGeom prst="roundRect">
            <a:avLst/>
          </a:prstGeom>
          <a:solidFill>
            <a:srgbClr val="6F4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960120"/>
            <a:ext cx="2093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IMPLEMENTED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691640"/>
            <a:ext cx="1417320" cy="731520"/>
          </a:xfrm>
          <a:prstGeom prst="roundRect">
            <a:avLst/>
          </a:prstGeom>
          <a:solidFill>
            <a:srgbClr val="14305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  <a:br/>
            <a:r>
              <a:t>Clock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691640"/>
            <a:ext cx="1417320" cy="731520"/>
          </a:xfrm>
          <a:prstGeom prst="roundRect">
            <a:avLst/>
          </a:prstGeom>
          <a:solidFill>
            <a:srgbClr val="6F49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1508760" cy="731520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14173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Generated</a:t>
            </a:r>
            <a:br/>
            <a:r>
              <a:t>Clock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691640"/>
            <a:ext cx="1417320" cy="731520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0" y="17373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Frequency</a:t>
            </a:r>
            <a:br/>
            <a:r>
              <a:t>Counter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2057400"/>
            <a:ext cx="22860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2057400"/>
            <a:ext cx="22860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2057400"/>
            <a:ext cx="22860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52360" y="2926080"/>
            <a:ext cx="1920240" cy="749808"/>
          </a:xfrm>
          <a:prstGeom prst="roundRect">
            <a:avLst/>
          </a:prstGeom>
          <a:solidFill>
            <a:srgbClr val="E57E2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2971800"/>
            <a:ext cx="1828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Detected</a:t>
            </a:r>
            <a:br/>
            <a:r>
              <a:t>Frequency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412480" y="2423160"/>
            <a:ext cx="2103120" cy="50292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74920" y="2926080"/>
            <a:ext cx="1920240" cy="749808"/>
          </a:xfrm>
          <a:prstGeom prst="roundRect">
            <a:avLst/>
          </a:prstGeom>
          <a:solidFill>
            <a:srgbClr val="308B5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0" y="2971800"/>
            <a:ext cx="1828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LED / Seven-</a:t>
            </a:r>
            <a:br/>
            <a:r>
              <a:t>Segment Output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995160" y="3300984"/>
            <a:ext cx="457200" cy="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434340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343400"/>
            <a:ext cx="73152" cy="1234440"/>
          </a:xfrm>
          <a:prstGeom prst="rect">
            <a:avLst/>
          </a:prstGeom>
          <a:solidFill>
            <a:srgbClr val="6F4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" y="4462272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F499C"/>
                </a:solidFill>
                <a:latin typeface="Aptos"/>
              </a:defRPr>
            </a:pPr>
            <a:r>
              <a:t>Why PLL?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4873752"/>
            <a:ext cx="31546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A34"/>
                </a:solidFill>
                <a:latin typeface="Aptos"/>
              </a:defRPr>
            </a:pPr>
            <a:r>
              <a:t>Provides a controlled clock source for FPGA logic and makes clock-dependent designs easier to manage.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434340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0520" y="4343400"/>
            <a:ext cx="73152" cy="123444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61688" y="4462272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BA0"/>
                </a:solidFill>
                <a:latin typeface="Aptos"/>
              </a:defRPr>
            </a:pPr>
            <a:r>
              <a:t>Why frequency detection?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4873752"/>
            <a:ext cx="3154679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A34"/>
                </a:solidFill>
                <a:latin typeface="Aptos"/>
              </a:defRPr>
            </a:pPr>
            <a:r>
              <a:t>Demonstrates practical measurement of a clock signal using counters and timing logic.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434340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818120" y="4343400"/>
            <a:ext cx="73152" cy="123444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19288" y="44622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08B5B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4873752"/>
            <a:ext cx="306324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A34"/>
                </a:solidFill>
                <a:latin typeface="Aptos"/>
              </a:defRPr>
            </a:pPr>
            <a:r>
              <a:t>Design and verification of frequency-detection logic using PLL-generated clocks.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9727E"/>
                </a:solidFill>
                <a:latin typeface="Aptos"/>
              </a:defRPr>
            </a:pPr>
            <a:r>
              <a:t>Evidence to show: PLL configuration, Verilog logic, timing/measurement result, and output display.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DAY 4 – THURSDAY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E6F2"/>
                </a:solidFill>
                <a:latin typeface="Aptos"/>
              </a:defRPr>
            </a:pPr>
            <a:r>
              <a:t>Cortex-M3 &amp; FPGA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2011680" cy="347472"/>
          </a:xfrm>
          <a:prstGeom prst="round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960120"/>
            <a:ext cx="18653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CORE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4160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Cortex-M3 processor architecture overview.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Memory-mapped I/O and register-based control.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Register read/write operations from C code.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Processor control of FPGA logic.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Data exchange between the embedded processor and FPGA fabric.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932688"/>
            <a:ext cx="2331720" cy="347472"/>
          </a:xfrm>
          <a:prstGeom prst="round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65192" y="960120"/>
            <a:ext cx="2185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691640"/>
            <a:ext cx="1691640" cy="822960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737360"/>
            <a:ext cx="1600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Cortex-M3</a:t>
            </a:r>
            <a:br/>
            <a:r>
              <a:t>Processor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91640"/>
            <a:ext cx="1691640" cy="822960"/>
          </a:xfrm>
          <a:prstGeom prst="roundRect">
            <a:avLst/>
          </a:prstGeom>
          <a:solidFill>
            <a:srgbClr val="F1C40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1737360"/>
            <a:ext cx="1600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A34"/>
                </a:solidFill>
                <a:latin typeface="Aptos"/>
              </a:defRPr>
            </a:pPr>
            <a:r>
              <a:t>FPGA</a:t>
            </a:r>
            <a:br/>
            <a:r>
              <a:t>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975733"/>
            <a:ext cx="1828800" cy="822960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057899" y="3044952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Registers /</a:t>
            </a:r>
            <a:br>
              <a:rPr dirty="0"/>
            </a:br>
            <a:r>
              <a:rPr dirty="0"/>
              <a:t>Memory Mapped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" y="2103120"/>
            <a:ext cx="68580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744083" y="2485103"/>
            <a:ext cx="274320" cy="54864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5989320" y="2514600"/>
            <a:ext cx="182880" cy="548640"/>
          </a:xfrm>
          <a:prstGeom prst="line">
            <a:avLst/>
          </a:prstGeom>
          <a:ln w="25400">
            <a:solidFill>
              <a:srgbClr val="697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0" y="416052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3058"/>
                </a:solidFill>
                <a:latin typeface="Aptos"/>
              </a:defRPr>
            </a:pPr>
            <a:r>
              <a:t>C program → register writes → FPGA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417320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60" y="1417320"/>
            <a:ext cx="73152" cy="205740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2328" y="1536192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08B5B"/>
                </a:solidFill>
                <a:latin typeface="Aptos"/>
              </a:defRPr>
            </a:pPr>
            <a:r>
              <a:t>Communication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1947672"/>
            <a:ext cx="1600200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232A34"/>
                </a:solidFill>
                <a:latin typeface="Aptos"/>
              </a:defRPr>
            </a:pPr>
            <a:r>
              <a:t>1. C code runs on Cortex-M3</a:t>
            </a:r>
            <a:br/>
            <a:br/>
            <a:r>
              <a:t>2. CPU writes/reads mapped registers</a:t>
            </a:r>
            <a:br/>
            <a:br/>
            <a:r>
              <a:t>3. FPGA logic reacts to register values</a:t>
            </a:r>
            <a:br/>
            <a:br/>
            <a:r>
              <a:t>4. Status/data can be read 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4572000"/>
            <a:ext cx="6217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83480" y="4572000"/>
            <a:ext cx="73152" cy="114300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84648" y="4690872"/>
            <a:ext cx="5897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08B5B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5102352"/>
            <a:ext cx="589788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A34"/>
                </a:solidFill>
                <a:latin typeface="Aptos"/>
              </a:defRPr>
            </a:pPr>
            <a:r>
              <a:t>A processor-controlled FPGA subsystem in which software and programmable logic exchange control/status data through memory-mapped registers.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9727E"/>
                </a:solidFill>
                <a:latin typeface="Aptos"/>
              </a:defRPr>
            </a:pPr>
            <a:r>
              <a:t>Evidence to show: Cortex-M3 block diagram, register map/code, and communication test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DAY 5 –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E6F2"/>
                </a:solidFill>
                <a:latin typeface="Aptos"/>
              </a:defRPr>
            </a:pPr>
            <a:r>
              <a:t>ESP32-S3 Wi-Fi &amp; T-FPGA Web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1965960" cy="347472"/>
          </a:xfrm>
          <a:prstGeom prst="round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960120"/>
            <a:ext cx="18196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WORK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4251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Reviewed ESP32-S3 communication and Wi-Fi fundamentals.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Established the concept of transferring T-FPGA status/data to ESP32-S3.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Covered UART / I²C / SPI as possible hardware communication links.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Used ESP32-S3 as the bridge between FPGA data and a browser-based interface.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• Designed the web-dashboard flow for displaying T-FPGA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932688"/>
            <a:ext cx="2560320" cy="347472"/>
          </a:xfrm>
          <a:prstGeom prst="round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02352" y="960120"/>
            <a:ext cx="24140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END-TO-END DATA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645920"/>
            <a:ext cx="1554480" cy="822960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1691640"/>
            <a:ext cx="1463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T-FPGA</a:t>
            </a:r>
            <a:br/>
            <a:r>
              <a:t>GW1NSR-4C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645920"/>
            <a:ext cx="1600200" cy="822960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1508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ESP32-S3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1600200" cy="822960"/>
          </a:xfrm>
          <a:prstGeom prst="roundRect">
            <a:avLst/>
          </a:prstGeom>
          <a:solidFill>
            <a:srgbClr val="6F49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691640"/>
            <a:ext cx="1508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3063240"/>
            <a:ext cx="1143000" cy="822960"/>
          </a:xfrm>
          <a:prstGeom prst="roundRect">
            <a:avLst/>
          </a:prstGeom>
          <a:solidFill>
            <a:srgbClr val="E57E2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0" y="3108960"/>
            <a:ext cx="1051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Web</a:t>
            </a:r>
            <a:br/>
            <a:r>
              <a:t>Browser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2057400"/>
            <a:ext cx="41148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41080" y="2057400"/>
            <a:ext cx="45720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75520" y="2468880"/>
            <a:ext cx="640080" cy="59436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0" y="267004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9727E"/>
                </a:solidFill>
                <a:latin typeface="Aptos"/>
              </a:defRPr>
            </a:pPr>
            <a:r>
              <a:t>UART / I²C / SPI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3703320"/>
            <a:ext cx="2834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74920" y="3703320"/>
            <a:ext cx="73152" cy="132588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1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BA0"/>
                </a:solidFill>
                <a:latin typeface="Aptos"/>
              </a:defRPr>
            </a:pPr>
            <a:r>
              <a:t>ESP32-S3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233672"/>
            <a:ext cx="251460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232A34"/>
                </a:solidFill>
                <a:latin typeface="Aptos"/>
              </a:defRPr>
            </a:pPr>
            <a:r>
              <a:t>Connect to Wi-Fi, receive FPGA data, host the web server and expose status to a browser.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703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3703320"/>
            <a:ext cx="73152" cy="1325880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93608" y="382219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57E22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4233672"/>
            <a:ext cx="2926079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232A34"/>
                </a:solidFill>
                <a:latin typeface="Aptos"/>
              </a:defRPr>
            </a:pPr>
            <a:r>
              <a:t>Browser dashboard can show status values, detected frequency and other system information.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150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3058"/>
                </a:solidFill>
                <a:latin typeface="Aptos"/>
              </a:defRPr>
            </a:pPr>
            <a:r>
              <a:t>Outcome: an ESP32-S3 based web interface concept for monitoring and displaying T-FPGA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COMPLETE WEEK – INTEGRATED SYSTEM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E6F2"/>
                </a:solidFill>
                <a:latin typeface="Aptos"/>
              </a:defRPr>
            </a:pPr>
            <a:r>
              <a:t>FROM HARDWARE TO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43058"/>
                </a:solidFill>
                <a:latin typeface="Aptos"/>
              </a:defRPr>
            </a:pPr>
            <a:r>
              <a:t>How the five days connect into one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691640" cy="868680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600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AXP2101</a:t>
            </a:r>
            <a:br/>
            <a:r>
              <a:t>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828800"/>
            <a:ext cx="1828800" cy="868680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1874519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ESP32-S3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828800"/>
            <a:ext cx="1828800" cy="868680"/>
          </a:xfrm>
          <a:prstGeom prst="roundRect">
            <a:avLst/>
          </a:prstGeom>
          <a:solidFill>
            <a:srgbClr val="6F49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874519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T-FPGA</a:t>
            </a:r>
            <a:br/>
            <a:r>
              <a:t>GW1NSR-4C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828800"/>
            <a:ext cx="1828800" cy="868680"/>
          </a:xfrm>
          <a:prstGeom prst="roundRect">
            <a:avLst/>
          </a:prstGeom>
          <a:solidFill>
            <a:srgbClr val="308B5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80" y="1874519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Cortex-M3</a:t>
            </a:r>
            <a:br/>
            <a:r>
              <a:t>+ FPGA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828800"/>
            <a:ext cx="1508760" cy="868680"/>
          </a:xfrm>
          <a:prstGeom prst="roundRect">
            <a:avLst/>
          </a:prstGeom>
          <a:solidFill>
            <a:srgbClr val="E57E2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04120" y="1874519"/>
            <a:ext cx="14173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Web</a:t>
            </a:r>
            <a:br/>
            <a:r>
              <a:t>Browser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267712"/>
            <a:ext cx="54864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63440" y="2267712"/>
            <a:ext cx="59436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86600" y="2267712"/>
            <a:ext cx="59436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09760" y="2267712"/>
            <a:ext cx="548640" cy="0"/>
          </a:xfrm>
          <a:prstGeom prst="line">
            <a:avLst/>
          </a:prstGeom>
          <a:ln w="31750">
            <a:solidFill>
              <a:srgbClr val="143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3246120"/>
            <a:ext cx="1417320" cy="749808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291839"/>
            <a:ext cx="1325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DAY 1</a:t>
            </a:r>
            <a:br/>
            <a:r>
              <a:t>KiCad 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3246120"/>
            <a:ext cx="1417320" cy="749808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3291839"/>
            <a:ext cx="1325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DAY 2</a:t>
            </a:r>
            <a:br/>
            <a:r>
              <a:t>Verilog + FPGA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3246120"/>
            <a:ext cx="1417320" cy="749808"/>
          </a:xfrm>
          <a:prstGeom prst="roundRect">
            <a:avLst/>
          </a:prstGeom>
          <a:solidFill>
            <a:srgbClr val="6F49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23559" y="3291839"/>
            <a:ext cx="1325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DAY 3</a:t>
            </a:r>
            <a:br/>
            <a:r>
              <a:t>PLL + frequency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246120"/>
            <a:ext cx="1417320" cy="749808"/>
          </a:xfrm>
          <a:prstGeom prst="roundRect">
            <a:avLst/>
          </a:prstGeom>
          <a:solidFill>
            <a:srgbClr val="308B5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3291839"/>
            <a:ext cx="1325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DAY 4</a:t>
            </a:r>
            <a:br/>
            <a:r>
              <a:t>Cortex-M3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5560" y="3246120"/>
            <a:ext cx="1325880" cy="749808"/>
          </a:xfrm>
          <a:prstGeom prst="roundRect">
            <a:avLst/>
          </a:prstGeom>
          <a:solidFill>
            <a:srgbClr val="E57E2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41280" y="3291839"/>
            <a:ext cx="12344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DAY 5</a:t>
            </a:r>
            <a:br/>
            <a:r>
              <a:t>Wi-Fi + web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48056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" y="4480560"/>
            <a:ext cx="73152" cy="1143000"/>
          </a:xfrm>
          <a:prstGeom prst="rect">
            <a:avLst/>
          </a:prstGeom>
          <a:solidFill>
            <a:srgbClr val="198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8" y="45994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98277"/>
                </a:solidFill>
                <a:latin typeface="Aptos"/>
              </a:defRPr>
            </a:pPr>
            <a:r>
              <a:t>Hardware foundation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5010912"/>
            <a:ext cx="306324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232A34"/>
                </a:solidFill>
                <a:latin typeface="Aptos"/>
              </a:defRPr>
            </a:pPr>
            <a:r>
              <a:t>AXP2101 + ESP32-S3 schematic review and verified connectivity provide the base platform.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48056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51960" y="4480560"/>
            <a:ext cx="73152" cy="1143000"/>
          </a:xfrm>
          <a:prstGeom prst="rect">
            <a:avLst/>
          </a:prstGeom>
          <a:solidFill>
            <a:srgbClr val="6F4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53128" y="45994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F499C"/>
                </a:solidFill>
                <a:latin typeface="Aptos"/>
              </a:defRPr>
            </a:pPr>
            <a:r>
              <a:t>Programmable processing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8" y="5010912"/>
            <a:ext cx="306324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232A34"/>
                </a:solidFill>
                <a:latin typeface="Aptos"/>
              </a:defRPr>
            </a:pPr>
            <a:r>
              <a:t>Verilog, PLL, frequency detection and Cortex-M3 communication build the FPGA intelligence.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80560"/>
            <a:ext cx="3657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09560" y="4480560"/>
            <a:ext cx="73152" cy="1143000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10728" y="4599432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57E22"/>
                </a:solidFill>
                <a:latin typeface="Aptos"/>
              </a:defRPr>
            </a:pPr>
            <a:r>
              <a:t>Remote monitoring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8" y="5010912"/>
            <a:ext cx="333756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232A34"/>
                </a:solidFill>
                <a:latin typeface="Aptos"/>
              </a:defRPr>
            </a:pPr>
            <a:r>
              <a:t>ESP32-S3 Wi-Fi and web interface expose FPGA status in a browser-friendly format.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WEEKLY LEARNING &amp;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E6F2"/>
                </a:solidFill>
                <a:latin typeface="Aptos"/>
              </a:defRPr>
            </a:pPr>
            <a:r>
              <a:t>WHAT I CAN DEMONSTRATE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2240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73152" cy="4206240"/>
          </a:xfrm>
          <a:prstGeom prst="rect">
            <a:avLst/>
          </a:prstGeom>
          <a:solidFill>
            <a:srgbClr val="198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307592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98277"/>
                </a:solidFill>
                <a:latin typeface="Aptos"/>
              </a:defRPr>
            </a:pPr>
            <a:r>
              <a:t>1.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83080"/>
            <a:ext cx="1901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KiCad schematic review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AXP2101 power section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ESP32-S3 connectivity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ERC-based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88720"/>
            <a:ext cx="2240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1188720"/>
            <a:ext cx="73152" cy="420624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1307592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5BA0"/>
                </a:solidFill>
                <a:latin typeface="Aptos"/>
              </a:defRPr>
            </a:pPr>
            <a:r>
              <a:t>2. FPGA / VERILOG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1783080"/>
            <a:ext cx="1901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Gowin project flow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Verilog modules and logic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Synthesis and bitstream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T-FPGA programming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188720"/>
            <a:ext cx="2240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4920" y="1188720"/>
            <a:ext cx="73152" cy="4206240"/>
          </a:xfrm>
          <a:prstGeom prst="rect">
            <a:avLst/>
          </a:prstGeom>
          <a:solidFill>
            <a:srgbClr val="6F4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1307592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F499C"/>
                </a:solidFill>
                <a:latin typeface="Aptos"/>
              </a:defRPr>
            </a:pPr>
            <a:r>
              <a:t>3. CLOCK / MEASUREMENT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1783080"/>
            <a:ext cx="1901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PLL fundamentals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Generated clocks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Frequency counters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Frequency detection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188720"/>
            <a:ext cx="2240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1188720"/>
            <a:ext cx="73152" cy="4206240"/>
          </a:xfrm>
          <a:prstGeom prst="rect">
            <a:avLst/>
          </a:prstGeom>
          <a:solidFill>
            <a:srgbClr val="3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808" y="1307592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08B5B"/>
                </a:solidFill>
                <a:latin typeface="Aptos"/>
              </a:defRPr>
            </a:pPr>
            <a:r>
              <a:t>4. EMBEDDED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1783080"/>
            <a:ext cx="1901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Cortex-M3 overview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Memory-mapped registers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C register read/write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Processor ↔ FPGA data exchange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59" y="1188720"/>
            <a:ext cx="2240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38359" y="1188720"/>
            <a:ext cx="73152" cy="4206240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39528" y="1307592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57E22"/>
                </a:solidFill>
                <a:latin typeface="Aptos"/>
              </a:defRPr>
            </a:pPr>
            <a:r>
              <a:t>5. CONNECTIVITY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1" y="1783080"/>
            <a:ext cx="1901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ESP32-S3 Wi-Fi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UART / I²C / SPI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Web-server concept</a:t>
            </a:r>
          </a:p>
          <a:p>
            <a:pPr>
              <a:spcAft>
                <a:spcPts val="6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• Browser status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623560"/>
            <a:ext cx="10835640" cy="566928"/>
          </a:xfrm>
          <a:prstGeom prst="round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742432"/>
            <a:ext cx="10469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Overall outcome: a complete programming path from verified hardware → FPGA logic → processor control → Wi-Fi web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D2DEEE"/>
                </a:solidFill>
                <a:latin typeface="Aptos"/>
              </a:defRPr>
            </a:pPr>
            <a:r>
              <a:t>A five-day progression from schematic verification to system-level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2423160"/>
            <a:ext cx="1051560" cy="640080"/>
          </a:xfrm>
          <a:prstGeom prst="roundRect">
            <a:avLst/>
          </a:prstGeom>
          <a:solidFill>
            <a:srgbClr val="19827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39" y="2468879"/>
            <a:ext cx="9601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487168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Verified the hardware starting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3136391"/>
            <a:ext cx="1051560" cy="640080"/>
          </a:xfrm>
          <a:prstGeom prst="roundRect">
            <a:avLst/>
          </a:prstGeom>
          <a:solidFill>
            <a:srgbClr val="1F5BA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39" y="3182111"/>
            <a:ext cx="9601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200399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Built the FPGA / Verilog foundation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3849624"/>
            <a:ext cx="1051560" cy="640080"/>
          </a:xfrm>
          <a:prstGeom prst="roundRect">
            <a:avLst/>
          </a:prstGeom>
          <a:solidFill>
            <a:srgbClr val="6F49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39" y="3895344"/>
            <a:ext cx="9601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913632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Added PLL-based frequency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4562856"/>
            <a:ext cx="1051560" cy="640080"/>
          </a:xfrm>
          <a:prstGeom prst="roundRect">
            <a:avLst/>
          </a:prstGeom>
          <a:solidFill>
            <a:srgbClr val="308B5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39" y="4608576"/>
            <a:ext cx="9601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626864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Connected Cortex-M3 software with FPGA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5276088"/>
            <a:ext cx="1051560" cy="640080"/>
          </a:xfrm>
          <a:prstGeom prst="roundRect">
            <a:avLst/>
          </a:prstGeom>
          <a:solidFill>
            <a:srgbClr val="E57E2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39" y="5321808"/>
            <a:ext cx="9601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5340096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Extended the system to Wi-Fi + web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09360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4C3D7"/>
                </a:solidFill>
                <a:latin typeface="Aptos"/>
              </a:defRPr>
            </a:pPr>
            <a:r>
              <a:t>Questions /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1203</Words>
  <Application>Microsoft Office PowerPoint</Application>
  <PresentationFormat>Widescreen</PresentationFormat>
  <Paragraphs>190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YASHWANTH KUMAR</dc:creator>
  <cp:keywords/>
  <dc:description>generated using python-pptx</dc:description>
  <cp:lastModifiedBy>YASHWANTH KUMAR</cp:lastModifiedBy>
  <cp:revision>2</cp:revision>
  <dcterms:created xsi:type="dcterms:W3CDTF">2013-01-27T09:14:16Z</dcterms:created>
  <dcterms:modified xsi:type="dcterms:W3CDTF">2026-09-05T09:08:52Z</dcterms:modified>
  <cp:category/>
</cp:coreProperties>
</file>