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</a:defRPr>
            </a:pPr>
            <a:r>
              <a:t>2-WEEK INTERNSHIP</a:t>
            </a:r>
            <a:br/>
            <a:r>
              <a:t>PROGRESS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317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</a:defRPr>
            </a:pPr>
            <a:r>
              <a:t>Embedded Systems, FPGA &amp; Hardware Reverse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632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</a:defRPr>
            </a:pPr>
            <a:r>
              <a:t>GW1SR-4C FPGA + ESP32-S3 Platforms | KiCad Schematic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4160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49884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t>Yashwanth Kumar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3337560"/>
            <a:ext cx="1600200" cy="777240"/>
          </a:xfrm>
          <a:prstGeom prst="roundRect">
            <a:avLst/>
          </a:prstGeom>
          <a:solidFill>
            <a:srgbClr val="1E3753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rPr dirty="0">
                <a:solidFill>
                  <a:schemeClr val="bg1"/>
                </a:solidFill>
              </a:rPr>
              <a:t>ESP32-S3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3337560"/>
            <a:ext cx="1600200" cy="777240"/>
          </a:xfrm>
          <a:prstGeom prst="roundRect">
            <a:avLst/>
          </a:prstGeom>
          <a:solidFill>
            <a:srgbClr val="1E3753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rPr dirty="0">
                <a:solidFill>
                  <a:schemeClr val="bg1"/>
                </a:solidFill>
              </a:rPr>
              <a:t>GW1SR-4C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FPGA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052560" y="3730752"/>
            <a:ext cx="274320" cy="0"/>
          </a:xfrm>
          <a:prstGeom prst="line">
            <a:avLst/>
          </a:prstGeom>
          <a:ln w="228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3A"/>
                </a:solidFill>
              </a:defRPr>
            </a:pPr>
            <a:r>
              <a:t>Internship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832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5636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t>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984248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Embedded systems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FPGA fundamentals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Hardware design &amp; schematic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832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5636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t>Main Platforms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84248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GW1SR-4C FPGA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ESP32-S3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Board hardware and interfaces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17320"/>
            <a:ext cx="3383280" cy="1920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5636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t>Main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984248"/>
            <a:ext cx="3063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KiCad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Schematic capture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Reverse-engineering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94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3233A"/>
                </a:solidFill>
              </a:defRPr>
            </a:pPr>
            <a:r>
              <a:t>Overall objective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343400"/>
            <a:ext cx="219456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Understand</a:t>
            </a:r>
            <a:br/>
            <a:r>
              <a:t>Platforms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971800" y="4709160"/>
            <a:ext cx="822960" cy="0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94760" y="4343400"/>
            <a:ext cx="219456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Study Board</a:t>
            </a:r>
            <a:br/>
            <a:r>
              <a:t>Schematic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9320" y="4709160"/>
            <a:ext cx="822960" cy="0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12280" y="4343400"/>
            <a:ext cx="219456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Recreate in</a:t>
            </a:r>
            <a:br/>
            <a:r>
              <a:t>KiCad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006840" y="4709160"/>
            <a:ext cx="822960" cy="0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29800" y="4343400"/>
            <a:ext cx="150876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Verify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2910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" y="638251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2-Week Internship Progress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3A"/>
                </a:solidFill>
              </a:defRPr>
            </a:pPr>
            <a:r>
              <a:t>Two-Week Internship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36045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3233A"/>
                </a:solidFill>
              </a:defRPr>
            </a:pPr>
            <a:r>
              <a:rPr lang="en-IN" dirty="0"/>
              <a:t>Documentation &amp; Platform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72936"/>
            <a:ext cx="5029200" cy="1920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3233A"/>
                </a:solidFill>
              </a:defRPr>
            </a:pP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1005840" y="2089404"/>
            <a:ext cx="4480560" cy="1051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sz="1600" dirty="0"/>
              <a:t>Review hardware and software specifications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sz="1600" dirty="0"/>
              <a:t>Study GW1SR-4C FPGA and ESP32-S3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sz="1600" dirty="0"/>
              <a:t>Identify potential application areas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799" y="1325880"/>
            <a:ext cx="4159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3233A"/>
                </a:solidFill>
              </a:defRPr>
            </a:pPr>
            <a:r>
              <a:rPr lang="en-IN"/>
              <a:t>Schematic Study &amp; Reverse Engineering</a:t>
            </a:r>
            <a:endParaRPr lang="en-IN" dirty="0"/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029200" cy="1920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3233A"/>
                </a:solidFill>
              </a:defRPr>
            </a:pP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6251"/>
            <a:ext cx="4480560" cy="1051560"/>
          </a:xfrm>
          <a:prstGeom prst="rect">
            <a:avLst/>
          </a:prstGeom>
          <a:noFill/>
        </p:spPr>
        <p:txBody>
          <a:bodyPr wrap="square" lIns="45720" rIns="2743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sz="1600" dirty="0"/>
              <a:t>Study the board schematic in detail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sz="1600" dirty="0"/>
              <a:t>Identify components and functional blocks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rPr sz="1600" dirty="0"/>
              <a:t>Recreate the schematic using </a:t>
            </a:r>
            <a:r>
              <a:rPr sz="1600" dirty="0" err="1"/>
              <a:t>KiCad</a:t>
            </a:r>
            <a:endParaRPr sz="1600" dirty="0"/>
          </a:p>
        </p:txBody>
      </p:sp>
      <p:cxnSp>
        <p:nvCxnSpPr>
          <p:cNvPr id="12" name="Connector 11"/>
          <p:cNvCxnSpPr/>
          <p:nvPr/>
        </p:nvCxnSpPr>
        <p:spPr>
          <a:xfrm>
            <a:off x="5715000" y="2743200"/>
            <a:ext cx="457200" cy="0"/>
          </a:xfrm>
          <a:prstGeom prst="line">
            <a:avLst/>
          </a:prstGeom>
          <a:ln w="31750">
            <a:solidFill>
              <a:srgbClr val="13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4251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3233A"/>
                </a:solidFill>
              </a:defRPr>
            </a:pPr>
            <a:r>
              <a:t>Progress achieved: Hardware understanding → Schematic analysis → KiCad implementation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2910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21792" y="638251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2-Week Internship Progress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3A"/>
                </a:solidFill>
              </a:defRPr>
            </a:pPr>
            <a:r>
              <a:t>Understanding the Assigned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65960"/>
            <a:ext cx="192024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3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3233A"/>
                </a:solidFill>
              </a:defRPr>
            </a:pPr>
            <a:r>
              <a:t>PC / USB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40" y="2377440"/>
            <a:ext cx="1051560" cy="0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1508760"/>
            <a:ext cx="2423160" cy="17373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3233A"/>
                </a:solidFill>
              </a:defRPr>
            </a:pPr>
            <a:r>
              <a:t>ESP32-S3</a:t>
            </a:r>
            <a:br/>
            <a:r>
              <a:t>Microcontroller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377440"/>
            <a:ext cx="1234440" cy="0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0" y="1508760"/>
            <a:ext cx="2423160" cy="17373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3233A"/>
                </a:solidFill>
              </a:defRPr>
            </a:pPr>
            <a:r>
              <a:t>GW1SR-4C</a:t>
            </a:r>
            <a:br/>
            <a:r>
              <a:t>FPGA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38360" y="2377440"/>
            <a:ext cx="1234440" cy="0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515600" y="1965960"/>
            <a:ext cx="960120" cy="8229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33A"/>
                </a:solidFill>
              </a:defRPr>
            </a:pPr>
            <a:r>
              <a:t>I/O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40480"/>
            <a:ext cx="480060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400" y="384048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986784"/>
            <a:ext cx="4480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t>ESP32-S3 role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07408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Software-controlled processing and peripheral control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Embedded firmware development platform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480060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384048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0" y="3986784"/>
            <a:ext cx="4480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t>FPGA 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407408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Programmable digital hardware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Suitable for custom logic and parallel processing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2910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638251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2-Week Internship Progress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3A"/>
                </a:solidFill>
              </a:defRPr>
            </a:pPr>
            <a:r>
              <a:t>GW1SR-4C FPGA – What I Studied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743200" cy="3337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3233A"/>
                </a:solidFill>
              </a:defRPr>
            </a:pPr>
            <a:r>
              <a:t>GW1SR-4C</a:t>
            </a:r>
            <a:br/>
            <a:r>
              <a:t>FPGA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1325880"/>
            <a:ext cx="196596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Architecture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474720" y="1801368"/>
            <a:ext cx="685800" cy="1353312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92240" y="1325880"/>
            <a:ext cx="196596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I/O &amp; Pin</a:t>
            </a:r>
            <a:br/>
            <a:r>
              <a:t>Connections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474720" y="1801368"/>
            <a:ext cx="3017520" cy="1353312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823960" y="1325880"/>
            <a:ext cx="196596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Clocking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474720" y="1801368"/>
            <a:ext cx="5349240" cy="1353312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60520" y="2834640"/>
            <a:ext cx="196596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Memory /</a:t>
            </a:r>
            <a:br/>
            <a:r>
              <a:t>Resources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74720" y="3154680"/>
            <a:ext cx="685800" cy="155448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92240" y="2834640"/>
            <a:ext cx="196596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Configuration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74720" y="3154680"/>
            <a:ext cx="3017520" cy="155448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823960" y="2834640"/>
            <a:ext cx="196596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Applications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74720" y="3154680"/>
            <a:ext cx="5349240" cy="155448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51663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3233A"/>
                </a:solidFill>
              </a:defRPr>
            </a:pPr>
            <a:r>
              <a:t>Learning outcome: understand the FPGA as a programmable digital-hardware resource.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2910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638251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2-Week Internship Progress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3A"/>
                </a:solidFill>
              </a:defRPr>
            </a:pPr>
            <a:r>
              <a:t>ESP32-S3 – What I Studied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743200" cy="356616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3233A"/>
                </a:solidFill>
              </a:defRPr>
            </a:pPr>
            <a:r>
              <a:t>ESP32-S3</a:t>
            </a:r>
            <a:br/>
            <a:r>
              <a:t>Microcontroller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325880"/>
            <a:ext cx="201168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GPIO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3474720" y="1801368"/>
            <a:ext cx="640080" cy="1444752"/>
          </a:xfrm>
          <a:prstGeom prst="line">
            <a:avLst/>
          </a:prstGeom>
          <a:ln w="1778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0" y="1325880"/>
            <a:ext cx="201168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USB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474720" y="1801368"/>
            <a:ext cx="2926080" cy="1444752"/>
          </a:xfrm>
          <a:prstGeom prst="line">
            <a:avLst/>
          </a:prstGeom>
          <a:ln w="1778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86800" y="1325880"/>
            <a:ext cx="201168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Serial /</a:t>
            </a:r>
            <a:br/>
            <a:r>
              <a:t>Communication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3474720" y="1801368"/>
            <a:ext cx="5212080" cy="1444752"/>
          </a:xfrm>
          <a:prstGeom prst="line">
            <a:avLst/>
          </a:prstGeom>
          <a:ln w="1778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4800" y="2788920"/>
            <a:ext cx="201168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Boot &amp; Reset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74720" y="3246120"/>
            <a:ext cx="640080" cy="18288"/>
          </a:xfrm>
          <a:prstGeom prst="line">
            <a:avLst/>
          </a:prstGeom>
          <a:ln w="1778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2788920"/>
            <a:ext cx="201168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Memory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74720" y="3246120"/>
            <a:ext cx="2926080" cy="18288"/>
          </a:xfrm>
          <a:prstGeom prst="line">
            <a:avLst/>
          </a:prstGeom>
          <a:ln w="1778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86800" y="2788920"/>
            <a:ext cx="2011680" cy="960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Embedded</a:t>
            </a:r>
            <a:br/>
            <a:r>
              <a:t>Applications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474720" y="3246120"/>
            <a:ext cx="5212080" cy="18288"/>
          </a:xfrm>
          <a:prstGeom prst="line">
            <a:avLst/>
          </a:prstGeom>
          <a:ln w="1778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5212080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3233A"/>
                </a:solidFill>
              </a:defRPr>
            </a:pPr>
            <a:r>
              <a:t>Learning outcome: understand the role of a microcontroller in an embedded hardware platform.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2910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638251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2-Week Internship Progress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3A"/>
                </a:solidFill>
              </a:defRPr>
            </a:pPr>
            <a:r>
              <a:t>Week 1 – Documentation &amp; Hardware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8328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636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t>1. Documentation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84248"/>
            <a:ext cx="3063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Reviewed available hardware documentation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Studied board-level specifications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Read component and interface information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8328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5636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t>2. Platform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84248"/>
            <a:ext cx="3063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Studied GW1SR-4C FPGA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Studied ESP32-S3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Compared programmable hardware and microcontroller approaches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383280" cy="33832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56362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t>3. Application Areas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984248"/>
            <a:ext cx="3063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Identified embedded-system use cases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Considered FPGA-based digital logic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Connected hardware features to possible 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1208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3233A"/>
                </a:solidFill>
              </a:defRPr>
            </a:pPr>
            <a:r>
              <a:t>Main outcome: a clear understanding of the assigned hardware platforms and their purpose.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2910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638251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2-Week Internship Progress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3A"/>
                </a:solidFill>
              </a:defRPr>
            </a:pPr>
            <a:r>
              <a:t>Week 2 – Board Schematic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3233A"/>
                </a:solidFill>
              </a:defRPr>
            </a:pPr>
            <a:r>
              <a:t>How I analyzed the board schematic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1737360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1</a:t>
            </a:r>
            <a:br/>
            <a:r>
              <a:t>Study original</a:t>
            </a:r>
            <a:br/>
            <a:r>
              <a:t>schematic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39" y="2761488"/>
            <a:ext cx="502921" cy="0"/>
          </a:xfrm>
          <a:prstGeom prst="line">
            <a:avLst/>
          </a:prstGeom>
          <a:ln w="22860">
            <a:solidFill>
              <a:srgbClr val="13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2148840"/>
            <a:ext cx="1737360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2</a:t>
            </a:r>
            <a:br/>
            <a:r>
              <a:t>Identify</a:t>
            </a:r>
            <a:br/>
            <a:r>
              <a:t>components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7720" y="2761488"/>
            <a:ext cx="502920" cy="0"/>
          </a:xfrm>
          <a:prstGeom prst="line">
            <a:avLst/>
          </a:prstGeom>
          <a:ln w="22860">
            <a:solidFill>
              <a:srgbClr val="13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120640" y="2148840"/>
            <a:ext cx="1737360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3</a:t>
            </a:r>
            <a:br/>
            <a:r>
              <a:t>Trace signal &amp;</a:t>
            </a:r>
            <a:br/>
            <a:r>
              <a:t>power paths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0" y="2761488"/>
            <a:ext cx="502920" cy="0"/>
          </a:xfrm>
          <a:prstGeom prst="line">
            <a:avLst/>
          </a:prstGeom>
          <a:ln w="22860">
            <a:solidFill>
              <a:srgbClr val="13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60920" y="2148840"/>
            <a:ext cx="1737360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4</a:t>
            </a:r>
            <a:br/>
            <a:r>
              <a:t>Group into</a:t>
            </a:r>
            <a:br/>
            <a:r>
              <a:t>functional blocks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98280" y="2761488"/>
            <a:ext cx="502920" cy="0"/>
          </a:xfrm>
          <a:prstGeom prst="line">
            <a:avLst/>
          </a:prstGeom>
          <a:ln w="22860">
            <a:solidFill>
              <a:srgbClr val="13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01200" y="2148840"/>
            <a:ext cx="1737360" cy="12344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3233A"/>
                </a:solidFill>
              </a:defRPr>
            </a:pPr>
            <a:r>
              <a:t>5</a:t>
            </a:r>
            <a:br/>
            <a:r>
              <a:t>Recreate in</a:t>
            </a:r>
            <a:br/>
            <a:r>
              <a:t>KiCad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77639"/>
            <a:ext cx="480060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4123944"/>
            <a:ext cx="4480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t>What I looked for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54456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Power, clock, reset, processing, memory, interfaces and connectors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77639"/>
            <a:ext cx="480060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4123944"/>
            <a:ext cx="4480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t>Why this mattered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544568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Understanding connectivity before recreating the design reduces schematic errors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2910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638251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2-Week Internship Progress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3A"/>
                </a:solidFill>
              </a:defRPr>
            </a:pPr>
            <a:r>
              <a:t>Board Schematic – Functional Block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897379"/>
            <a:ext cx="2514600" cy="11430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3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3233A"/>
                </a:solidFill>
              </a:defRPr>
            </a:pPr>
            <a:r>
              <a:t>MAIN BOARD</a:t>
            </a:r>
            <a:br/>
            <a:r>
              <a:t>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7190" y="1487424"/>
            <a:ext cx="182880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33A"/>
                </a:solidFill>
              </a:defRPr>
            </a:pPr>
            <a:r>
              <a:t>Power Supply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37360" y="1668780"/>
            <a:ext cx="4320540" cy="1325880"/>
          </a:xfrm>
          <a:prstGeom prst="line">
            <a:avLst/>
          </a:prstGeom>
          <a:ln w="152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26030" y="958976"/>
            <a:ext cx="182880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33A"/>
                </a:solidFill>
              </a:defRPr>
            </a:pPr>
            <a:r>
              <a:t>Clock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09060" y="1268730"/>
            <a:ext cx="2171700" cy="173736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783830" y="834390"/>
            <a:ext cx="182880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33A"/>
                </a:solidFill>
              </a:defRPr>
            </a:pPr>
            <a:r>
              <a:t>Reset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6057900" y="1257300"/>
            <a:ext cx="2217420" cy="1737360"/>
          </a:xfrm>
          <a:prstGeom prst="line">
            <a:avLst/>
          </a:prstGeom>
          <a:ln w="1524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852660" y="1444752"/>
            <a:ext cx="182880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33A"/>
                </a:solidFill>
              </a:defRPr>
            </a:pPr>
            <a:r>
              <a:t>FPGA / MCU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057900" y="1668780"/>
            <a:ext cx="4183380" cy="1325880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00050" y="4272279"/>
            <a:ext cx="182880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33A"/>
                </a:solidFill>
              </a:defRPr>
            </a:pPr>
            <a:r>
              <a:t>Memory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737360" y="2994660"/>
            <a:ext cx="4320540" cy="1600199"/>
          </a:xfrm>
          <a:prstGeom prst="line">
            <a:avLst/>
          </a:prstGeom>
          <a:ln w="1524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366010" y="4823461"/>
            <a:ext cx="182880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33A"/>
                </a:solidFill>
              </a:defRPr>
            </a:pPr>
            <a:r>
              <a:rPr dirty="0"/>
              <a:t>Communication</a:t>
            </a:r>
            <a:br>
              <a:rPr dirty="0"/>
            </a:br>
            <a:r>
              <a:rPr dirty="0"/>
              <a:t>Interfaces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783330" y="3028949"/>
            <a:ext cx="2171700" cy="2057399"/>
          </a:xfrm>
          <a:prstGeom prst="line">
            <a:avLst/>
          </a:prstGeom>
          <a:ln w="152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92440" y="4732019"/>
            <a:ext cx="182880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33A"/>
                </a:solidFill>
              </a:defRPr>
            </a:pPr>
            <a:r>
              <a:t>GPIO / I/O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6057900" y="2994660"/>
            <a:ext cx="2217420" cy="2057399"/>
          </a:xfrm>
          <a:prstGeom prst="line">
            <a:avLst/>
          </a:prstGeom>
          <a:ln w="152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921240" y="4023359"/>
            <a:ext cx="182880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33A"/>
                </a:solidFill>
              </a:defRPr>
            </a:pPr>
            <a:r>
              <a:t>Connectors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6057900" y="2994660"/>
            <a:ext cx="4183380" cy="1600199"/>
          </a:xfrm>
          <a:prstGeom prst="line">
            <a:avLst/>
          </a:prstGeom>
          <a:ln w="1524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571500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t>Functional decomposition made the reverse-engineering task easier to manage.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2910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638251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2-Week Internship Progress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3A"/>
                </a:solidFill>
              </a:defRPr>
            </a:pPr>
            <a:r>
              <a:t>KiCad – Schematic Recreation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554480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33A"/>
                </a:solidFill>
              </a:defRPr>
            </a:pPr>
            <a:r>
              <a:t>Analyze</a:t>
            </a:r>
            <a:br/>
            <a:br/>
            <a:r>
              <a:t>Original</a:t>
            </a:r>
            <a:br/>
            <a:r>
              <a:t>schematic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57400" y="2633472"/>
            <a:ext cx="365760" cy="0"/>
          </a:xfrm>
          <a:prstGeom prst="line">
            <a:avLst/>
          </a:prstGeom>
          <a:ln w="19050">
            <a:solidFill>
              <a:srgbClr val="13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23160" y="1920240"/>
            <a:ext cx="1554480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33A"/>
                </a:solidFill>
              </a:defRPr>
            </a:pPr>
            <a:r>
              <a:t>Identify</a:t>
            </a:r>
            <a:br/>
            <a:br/>
            <a:r>
              <a:t>Components &amp;</a:t>
            </a:r>
            <a:br/>
            <a:r>
              <a:t>connections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77639" y="2633472"/>
            <a:ext cx="365761" cy="0"/>
          </a:xfrm>
          <a:prstGeom prst="line">
            <a:avLst/>
          </a:prstGeom>
          <a:ln w="19050">
            <a:solidFill>
              <a:srgbClr val="13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1920240"/>
            <a:ext cx="1554480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33A"/>
                </a:solidFill>
              </a:defRPr>
            </a:pPr>
            <a:r>
              <a:t>Create</a:t>
            </a:r>
            <a:br/>
            <a:br/>
            <a:r>
              <a:t>KiCad symbols /</a:t>
            </a:r>
            <a:br/>
            <a:r>
              <a:t>parts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97880" y="2633472"/>
            <a:ext cx="365760" cy="0"/>
          </a:xfrm>
          <a:prstGeom prst="line">
            <a:avLst/>
          </a:prstGeom>
          <a:ln w="19050">
            <a:solidFill>
              <a:srgbClr val="13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3640" y="1920240"/>
            <a:ext cx="1554480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33A"/>
                </a:solidFill>
              </a:defRPr>
            </a:pPr>
            <a:r>
              <a:t>Place</a:t>
            </a:r>
            <a:br/>
            <a:br/>
            <a:r>
              <a:t>Components on</a:t>
            </a:r>
            <a:br/>
            <a:r>
              <a:t>schematic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8119" y="2633472"/>
            <a:ext cx="365760" cy="0"/>
          </a:xfrm>
          <a:prstGeom prst="line">
            <a:avLst/>
          </a:prstGeom>
          <a:ln w="19050">
            <a:solidFill>
              <a:srgbClr val="13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83879" y="1920240"/>
            <a:ext cx="1554480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33A"/>
                </a:solidFill>
              </a:defRPr>
            </a:pPr>
            <a:r>
              <a:t>Connect</a:t>
            </a:r>
            <a:br/>
            <a:br/>
            <a:r>
              <a:t>Wires +</a:t>
            </a:r>
            <a:br/>
            <a:r>
              <a:t>net labels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38359" y="2633472"/>
            <a:ext cx="365761" cy="0"/>
          </a:xfrm>
          <a:prstGeom prst="line">
            <a:avLst/>
          </a:prstGeom>
          <a:ln w="19050">
            <a:solidFill>
              <a:srgbClr val="13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04120" y="1920240"/>
            <a:ext cx="1554480" cy="14173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3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3233A"/>
                </a:solidFill>
              </a:defRPr>
            </a:pPr>
            <a:r>
              <a:t>Verify</a:t>
            </a:r>
            <a:br/>
            <a:br/>
            <a:r>
              <a:t>Compare with</a:t>
            </a:r>
            <a:br/>
            <a:r>
              <a:t>original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3233A"/>
                </a:solidFill>
              </a:defRPr>
            </a:pPr>
            <a:r>
              <a:t>KiCad was used as the schematic-capture environment for recreating the board design.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526280"/>
            <a:ext cx="310896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4672584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t>Accuracy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93208"/>
            <a:ext cx="27889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Match component identity and connectivity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4526280"/>
            <a:ext cx="310896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09160" y="4672584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t>Organization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5093208"/>
            <a:ext cx="27889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Keep functional sections clearly separated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4526280"/>
            <a:ext cx="3108960" cy="10515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0" y="4672584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t>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093208"/>
            <a:ext cx="27889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Recheck recreated design against source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2910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" y="638251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2-Week Internship Progress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3A"/>
                </a:solidFill>
              </a:defRPr>
            </a:pPr>
            <a:r>
              <a:t>Reverse Engineering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325880"/>
            <a:ext cx="1965960" cy="685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t>Understand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344168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Read the schematic and identify the purpose of each section.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5940" y="2011680"/>
            <a:ext cx="0" cy="27432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22960" y="2240280"/>
            <a:ext cx="1965960" cy="685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t>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258568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Follow power and signal connections carefully.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05940" y="2926080"/>
            <a:ext cx="0" cy="27432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3154680"/>
            <a:ext cx="1965960" cy="685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t>Decompose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172968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Separate the board into functional blocks.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05940" y="3840480"/>
            <a:ext cx="0" cy="27432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" y="4069080"/>
            <a:ext cx="1965960" cy="685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t>Recreate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4087368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Implement the blocks in KiCad.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05940" y="4754880"/>
            <a:ext cx="0" cy="274320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" y="4983480"/>
            <a:ext cx="1965960" cy="68580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3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5001768"/>
            <a:ext cx="7955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E293B"/>
                </a:solidFill>
              </a:defRPr>
            </a:pPr>
            <a:r>
              <a:t>Compare the recreated schematic with the original.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3233A"/>
                </a:solidFill>
              </a:defRPr>
            </a:pPr>
            <a:r>
              <a:t>Engineering habit: break a complex hardware problem into small, verifiable blocks.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2910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638251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2-Week Internship Progress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3A"/>
                </a:solidFill>
              </a:defRPr>
            </a:pPr>
            <a:r>
              <a:t>Challenges Faced &amp; What I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8328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72184"/>
            <a:ext cx="223811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rPr sz="2000" dirty="0"/>
              <a:t>Challenge 1</a:t>
            </a:r>
            <a:br>
              <a:rPr sz="2000" dirty="0"/>
            </a:br>
            <a:r>
              <a:rPr sz="2000" dirty="0"/>
              <a:t>Complex schematic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063240" cy="169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Large number of components and connections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Learning: divide the design into functional blocks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38328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1472184"/>
            <a:ext cx="290919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rPr sz="2000" dirty="0"/>
              <a:t>Challenge 2</a:t>
            </a:r>
            <a:br>
              <a:rPr sz="2000" dirty="0"/>
            </a:br>
            <a:r>
              <a:rPr sz="2000" dirty="0"/>
              <a:t>Component identification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9140" y="2185416"/>
            <a:ext cx="3063240" cy="169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Understanding unfamiliar parts and symbols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Learning: use part numbers, datasheets and schematic references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25880"/>
            <a:ext cx="3383280" cy="35661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472184"/>
            <a:ext cx="249536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rPr sz="2000" dirty="0"/>
              <a:t>Challenge 3</a:t>
            </a:r>
            <a:br>
              <a:rPr sz="2000" dirty="0"/>
            </a:br>
            <a:r>
              <a:rPr sz="2000" dirty="0"/>
              <a:t>Connectivity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0080" y="2108133"/>
            <a:ext cx="3063240" cy="138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Avoiding missed or incorrect connections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Learning: trace, recreate and verify systematically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2910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" y="638251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2-Week Internship Progress 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3A"/>
                </a:solidFill>
              </a:defRPr>
            </a:pPr>
            <a:r>
              <a:t>Skills &amp; Knowledge Gained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06324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72184"/>
            <a:ext cx="223875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rPr sz="2400" dirty="0"/>
              <a:t>Hardware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92807"/>
            <a:ext cx="274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FPGA and embedded platform fundamentals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25880"/>
            <a:ext cx="306324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472184"/>
            <a:ext cx="258660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rPr sz="2400" dirty="0"/>
              <a:t>Schematic 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892807"/>
            <a:ext cx="274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Component and connectivity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325880"/>
            <a:ext cx="306324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1164" y="1472184"/>
            <a:ext cx="276729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rPr sz="2400" dirty="0"/>
              <a:t>Reverse Engineering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5260" y="1933849"/>
            <a:ext cx="274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Breaking hardware into functional blocks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46120"/>
            <a:ext cx="306324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392424"/>
            <a:ext cx="90922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rPr sz="2400" dirty="0" err="1"/>
              <a:t>KiCad</a:t>
            </a:r>
            <a:endParaRPr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868680" y="3813048"/>
            <a:ext cx="274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Schematic capture and recreation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246120"/>
            <a:ext cx="306324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3392424"/>
            <a:ext cx="22598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rPr sz="2400" dirty="0"/>
              <a:t>System Thinking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813048"/>
            <a:ext cx="274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Relating blocks to overall board function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246120"/>
            <a:ext cx="3063240" cy="150876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18119" y="3392424"/>
            <a:ext cx="22519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rPr sz="2400" dirty="0"/>
              <a:t>Problem Solving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19" y="3813048"/>
            <a:ext cx="274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rPr sz="2000" dirty="0"/>
              <a:t>Trace → recreate → verify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62910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638251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2-Week Internship Progress Presentation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3A"/>
                </a:solidFill>
              </a:defRPr>
            </a:pPr>
            <a:r>
              <a:t>Plan for the Remaining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14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280160"/>
            <a:ext cx="566928" cy="56692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2618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3233A"/>
                </a:solidFill>
              </a:defRPr>
            </a:pPr>
            <a:r>
              <a:t>Mini-project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26187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E293B"/>
                </a:solidFill>
              </a:defRPr>
            </a:pPr>
            <a:r>
              <a:t>Propose a practical project based on the assigned platform.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06424" y="1847088"/>
            <a:ext cx="0" cy="256032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22960" y="219456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1762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3233A"/>
                </a:solidFill>
              </a:defRPr>
            </a:pPr>
            <a:r>
              <a:t>Architecture &amp;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7627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E293B"/>
                </a:solidFill>
              </a:defRPr>
            </a:pPr>
            <a:r>
              <a:t>Define functional blocks, interfaces and implementation approach.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106424" y="2761488"/>
            <a:ext cx="0" cy="256032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22960" y="3108960"/>
            <a:ext cx="566928" cy="56692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0906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3233A"/>
                </a:solidFill>
              </a:defRPr>
            </a:pPr>
            <a:r>
              <a:t>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309067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E293B"/>
                </a:solidFill>
              </a:defRPr>
            </a:pPr>
            <a:r>
              <a:t>Develop and integrate the selected FPGA/embedded functions.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06424" y="3675887"/>
            <a:ext cx="0" cy="256033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" y="4023360"/>
            <a:ext cx="566928" cy="566928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0050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3233A"/>
                </a:solidFill>
              </a:defRPr>
            </a:pPr>
            <a:r>
              <a:t>Testing &amp;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400507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E293B"/>
                </a:solidFill>
              </a:defRPr>
            </a:pPr>
            <a:r>
              <a:t>Test the system, analyze outputs and identify issues.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06424" y="4590288"/>
            <a:ext cx="0" cy="256032"/>
          </a:xfrm>
          <a:prstGeom prst="line">
            <a:avLst/>
          </a:prstGeom>
          <a:ln w="1524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22960" y="4937760"/>
            <a:ext cx="566928" cy="566928"/>
          </a:xfrm>
          <a:prstGeom prst="ellipse">
            <a:avLst/>
          </a:prstGeom>
          <a:solidFill>
            <a:srgbClr val="13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91947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3233A"/>
                </a:solidFill>
              </a:defRPr>
            </a:pPr>
            <a:r>
              <a:t>Documentation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919472"/>
            <a:ext cx="6675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50" b="0">
                <a:solidFill>
                  <a:srgbClr val="1E293B"/>
                </a:solidFill>
              </a:defRPr>
            </a:pPr>
            <a:r>
              <a:t>Record results, challenges, improvements and final outcomes.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62910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" y="638251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2-Week Internship Progress 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3891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33A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08760"/>
            <a:ext cx="3063240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3233A"/>
                </a:solidFill>
              </a:defRPr>
            </a:pPr>
            <a:r>
              <a:t>WEEK 1</a:t>
            </a:r>
            <a:br/>
            <a:r>
              <a:t>Understand the platforms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86200" y="2176272"/>
            <a:ext cx="640080" cy="0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26280" y="1508760"/>
            <a:ext cx="3063240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3233A"/>
                </a:solidFill>
              </a:defRPr>
            </a:pPr>
            <a:r>
              <a:t>WEEK 2</a:t>
            </a:r>
            <a:br/>
            <a:r>
              <a:t>Analyze &amp; recreate schematic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89520" y="2176272"/>
            <a:ext cx="640080" cy="0"/>
          </a:xfrm>
          <a:prstGeom prst="line">
            <a:avLst/>
          </a:prstGeom>
          <a:ln w="2794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0" y="1508760"/>
            <a:ext cx="3063240" cy="1325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3233A"/>
                </a:solidFill>
              </a:defRPr>
            </a:pPr>
            <a:r>
              <a:t>NEXT</a:t>
            </a:r>
            <a:br/>
            <a:r>
              <a:t>Implement &amp; validate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429000"/>
            <a:ext cx="310896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575304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t>Learned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95928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GW1SR-4C FPGA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ESP32-S3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Board architecture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429000"/>
            <a:ext cx="310896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0" y="3575304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t>Performed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995928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Schematic analysis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Functional decomposition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KiCad recreation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429000"/>
            <a:ext cx="310896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3575304"/>
            <a:ext cx="2788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3233A"/>
                </a:solidFill>
              </a:defRPr>
            </a:pPr>
            <a:r>
              <a:t>Prepared for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995928"/>
            <a:ext cx="2788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Mini-project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Implementation</a:t>
            </a:r>
          </a:p>
          <a:p>
            <a:pPr>
              <a:spcAft>
                <a:spcPts val="500"/>
              </a:spcAft>
              <a:defRPr sz="1250">
                <a:solidFill>
                  <a:srgbClr val="1E293B"/>
                </a:solidFill>
              </a:defRPr>
            </a:pPr>
            <a:r>
              <a:t>Testing &amp; 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25780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3233A"/>
                </a:solidFill>
              </a:defRPr>
            </a:pPr>
            <a:r>
              <a:t>The first two weeks established the hardware and schematic-design foundation needed for the next phase.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6291072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1792" y="6382512"/>
            <a:ext cx="5029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2-Week Internship Progress Presentation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697480"/>
            <a:ext cx="10789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rPr sz="48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860</Words>
  <Application>Microsoft Office PowerPoint</Application>
  <PresentationFormat>Widescreen</PresentationFormat>
  <Paragraphs>211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YASHWANTH KUMAR</dc:creator>
  <cp:keywords/>
  <dc:description>generated using python-pptx</dc:description>
  <cp:lastModifiedBy>YASHWANTH KUMAR</cp:lastModifiedBy>
  <cp:revision>2</cp:revision>
  <dcterms:created xsi:type="dcterms:W3CDTF">2013-01-27T09:14:16Z</dcterms:created>
  <dcterms:modified xsi:type="dcterms:W3CDTF">2026-08-29T10:38:41Z</dcterms:modified>
  <cp:category/>
</cp:coreProperties>
</file>